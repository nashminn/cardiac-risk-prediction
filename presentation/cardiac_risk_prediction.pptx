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0972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92608"/>
            <a:ext cx="1219169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5E5F5"/>
                </a:solidFill>
              </a:rPr>
              <a:t>CSE710: Advanced 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72865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Interpretable Cardiac Risk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5E5F5"/>
                </a:solidFill>
              </a:rPr>
              <a:t>A Deep Learning Approach with SHAP-based Clinical Explanations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3063240"/>
            <a:ext cx="5943600" cy="2834640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3218688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</a:rPr>
              <a:t>Project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749039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C1C2E"/>
                </a:solidFill>
              </a:rPr>
              <a:t>[Person 1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4297679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C1C2E"/>
                </a:solidFill>
              </a:rPr>
              <a:t>[Person 2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846319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C1C2E"/>
                </a:solidFill>
              </a:rPr>
              <a:t>[Person 3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291072"/>
            <a:ext cx="1219169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5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</a:rPr>
              <a:t>Presentation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2E"/>
                </a:solidFill>
              </a:rPr>
              <a:t>● Problem Statement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2E"/>
                </a:solidFill>
              </a:rPr>
              <a:t>● Dataset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1401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2E"/>
                </a:solidFill>
              </a:rPr>
              <a:t>● Data 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8094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2E"/>
                </a:solidFill>
              </a:rPr>
              <a:t>● Exploratory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4787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2E"/>
                </a:solidFill>
              </a:rPr>
              <a:t>● MLP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2801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2E"/>
                </a:solidFill>
              </a:rPr>
              <a:t>● Training &amp;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4708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2E"/>
                </a:solidFill>
              </a:rPr>
              <a:t>● Model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14016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2E"/>
                </a:solidFill>
              </a:rPr>
              <a:t>● Explainable AI — SHAP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80944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2E"/>
                </a:solidFill>
              </a:rPr>
              <a:t>● Key Findings &amp;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54787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2E"/>
                </a:solidFill>
              </a:rPr>
              <a:t>●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5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</a:rPr>
              <a:t>Problem Statement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82935" y="64556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</a:rPr>
              <a:t>1/12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A5C"/>
                </a:solidFill>
              </a:rPr>
              <a:t>Why Cardiac Risk Prediction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C1C2E"/>
                </a:solidFill>
              </a:rPr>
              <a:t>● Cardiovascular disease is the #1 cause of death globally (WHO, 2023)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C1C2E"/>
                </a:solidFill>
              </a:rPr>
              <a:t>● Early detection dramatically reduces mortality and healthcare costs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C1C2E"/>
                </a:solidFill>
              </a:rPr>
              <a:t>● Routine clinical data (ECG, cholesterol, blood pressure) already holds predictive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01568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A5C"/>
                </a:solidFill>
              </a:rPr>
              <a:t>The "Black Box" Problem in Clinical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77056"/>
            <a:ext cx="6858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C1C2E"/>
                </a:solidFill>
              </a:rPr>
              <a:t>● Deep learning is powerful but opaque — clinicians cannot trust what they cannot understand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C1C2E"/>
                </a:solidFill>
              </a:rPr>
              <a:t>● Regulatory frameworks (FDA, EU AI Act) increasingly require explainability for medical AI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C1C2E"/>
                </a:solidFill>
              </a:rPr>
              <a:t>● Without interpretability, accurate predictions may still be rejected in clinical practice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1188720"/>
            <a:ext cx="4023360" cy="5029200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298448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A5C"/>
                </a:solidFill>
              </a:rP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783080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E6DA4"/>
                </a:solidFill>
              </a:rPr>
              <a:t>● MLP deep learning model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2E6DA4"/>
                </a:solidFill>
              </a:rPr>
              <a:t>● SHAP for per-prediction explanations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UCI Heart Disease dataset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302 patients · 13 clinical features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Binary target: Cardiac Risk / No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57200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A3A5C"/>
                </a:solidFill>
              </a:rPr>
              <a:t>Goal: an accurate AND interpretable model that clinicians can act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5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</a:rPr>
              <a:t>Dataset Overview — UCI Heart Disease (Cleveland)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82935" y="64556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</a:rPr>
              <a:t>2/12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943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</a:rPr>
              <a:t>Dataset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760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Source: UCI Machine Learning Repository — Cleveland subset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Curated on Kaggle by mragpavank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303 records → 302 after removing 1 duplicate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Classes: 164 Cardiac Risk (54%)  ·  138 No Risk (46%)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2724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Selected Features (13 total)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474720"/>
            <a:ext cx="5623558" cy="402336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3538728"/>
            <a:ext cx="17830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2303" y="3538728"/>
            <a:ext cx="365759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Age in years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877056"/>
            <a:ext cx="562355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3941064"/>
            <a:ext cx="17830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ChestPainType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2303" y="3941064"/>
            <a:ext cx="365759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0 = asymptomatic … 3 = typical angina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279392"/>
            <a:ext cx="5623558" cy="402336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" y="4343400"/>
            <a:ext cx="17830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RestingBP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2303" y="4343400"/>
            <a:ext cx="365759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Resting blood pressure (mm Hg)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681728"/>
            <a:ext cx="562355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4745736"/>
            <a:ext cx="17830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Cholesterol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32303" y="4745736"/>
            <a:ext cx="365759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Serum cholesterol (mg/dl)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084064"/>
            <a:ext cx="5623558" cy="402336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" y="5148072"/>
            <a:ext cx="17830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MaxHR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32303" y="5148072"/>
            <a:ext cx="365759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Maximum heart rate achieved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486400"/>
            <a:ext cx="562355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5550408"/>
            <a:ext cx="17830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Oldpeak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32303" y="5550408"/>
            <a:ext cx="365759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ST depression induced by exercise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888736"/>
            <a:ext cx="5623558" cy="402336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" y="5952744"/>
            <a:ext cx="17830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Thalassemia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32303" y="5952744"/>
            <a:ext cx="365759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Thalassemia type (0–3)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1188720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A5C"/>
                </a:solidFill>
              </a:rPr>
              <a:t>Class Distribution</a:t>
            </a:r>
          </a:p>
        </p:txBody>
      </p:sp>
      <p:pic>
        <p:nvPicPr>
          <p:cNvPr id="31" name="Picture 30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45920"/>
            <a:ext cx="4937760" cy="39502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5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</a:rPr>
              <a:t>Data Preprocessing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82935" y="64556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</a:rPr>
              <a:t>3/12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1185855" cy="896112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4416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A4"/>
                </a:solidFill>
              </a:rPr>
              <a:t>Step 1 — Missing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19072"/>
            <a:ext cx="109115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No missing values found across all 303 records and 14 columns.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58568"/>
            <a:ext cx="11185855" cy="896112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2257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A4"/>
                </a:solidFill>
              </a:rPr>
              <a:t>Step 2 — Deduplication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115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1 exact duplicate row removed → 302 clean samples retained.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36976"/>
            <a:ext cx="11185855" cy="896112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009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A4"/>
                </a:solidFill>
              </a:rPr>
              <a:t>Step 3 — Feature / Target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75888"/>
            <a:ext cx="109115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X = 13 clinical features.   y = binary target (1 = Cardiac Risk, 0 = No Risk).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215384"/>
            <a:ext cx="11185855" cy="896112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7939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A4"/>
                </a:solidFill>
              </a:rPr>
              <a:t>Step 4 — Train-Test 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54296"/>
            <a:ext cx="109115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80% Training (241 samples)  ·  20% Testing (61 samples)  ·  Stratified by class label.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193792"/>
            <a:ext cx="11185855" cy="896112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5780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A4"/>
                </a:solidFill>
              </a:rPr>
              <a:t>Step 5 — Standardization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32704"/>
            <a:ext cx="109115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StandardScaler fitted on training data only; applied to both train and test sets.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245352"/>
            <a:ext cx="1118585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</a:rPr>
              <a:t>Stratification ensures class proportions are preserved; fitting the scaler only on training data prevents data leakage.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5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</a:rP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82935" y="64556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</a:rPr>
              <a:t>4/12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8521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Correlation Heatmap</a:t>
            </a:r>
          </a:p>
        </p:txBody>
      </p:sp>
      <p:pic>
        <p:nvPicPr>
          <p:cNvPr id="7" name="Picture 6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585216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37960" y="1188720"/>
            <a:ext cx="5303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Class Distribution by Feature</a:t>
            </a:r>
          </a:p>
        </p:txBody>
      </p:sp>
      <p:pic>
        <p:nvPicPr>
          <p:cNvPr id="9" name="Picture 8" descr="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600200"/>
            <a:ext cx="4846320" cy="38770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355080"/>
            <a:ext cx="11185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Key: MaxHR negatively correlated with risk · Oldpeak strongly positive · Thalassemia and ChestPainType show high discriminative power.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5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</a:rPr>
              <a:t>MLP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82935" y="64556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</a:rPr>
              <a:t>5/12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</a:rPr>
              <a:t>Network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5303520" cy="749808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70078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</a:rPr>
              <a:t>Input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04825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13 features (standardized)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68880"/>
            <a:ext cx="5303520" cy="749808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52374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</a:rPr>
              <a:t>Dense 64 + ReLU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7121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First hidden layer + Dropout(0.3)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91840"/>
            <a:ext cx="5303520" cy="749808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33467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</a:rPr>
              <a:t>Dense 32 + ReLU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69417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Second hidden layer + Dropout(0.3)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114800"/>
            <a:ext cx="5303520" cy="749808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416966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</a:rPr>
              <a:t>Dense 16 + ReLU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51713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Third hidden layer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937760"/>
            <a:ext cx="5303520" cy="749808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499262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7A3E"/>
                </a:solidFill>
              </a:rPr>
              <a:t>Output — Sigmoid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534009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P(Cardiac Risk)  ∈  [0, 1]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852160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7A3E"/>
                </a:solidFill>
              </a:rPr>
              <a:t>Total Parameters: 3,521  (13.75 KB)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188720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</a:rPr>
              <a:t>Training Configuration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664208"/>
            <a:ext cx="5669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C1C2E"/>
                </a:solidFill>
              </a:rPr>
              <a:t>● Optimizer: Adam (adaptive learning rate)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C1C2E"/>
                </a:solidFill>
              </a:rPr>
              <a:t>● Loss Function: Binary Cross-Entropy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C1C2E"/>
                </a:solidFill>
              </a:rPr>
              <a:t>● Batch Size: 16  ·  Max Epochs: 200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C1C2E"/>
                </a:solidFill>
              </a:rPr>
              <a:t>● Validation Split: 15% of training set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C1C2E"/>
                </a:solidFill>
              </a:rPr>
              <a:t>● Early Stopping: patience = 15 on val_loss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C1C2E"/>
                </a:solidFill>
              </a:rPr>
              <a:t>● Best weights automatically restored on stop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709160"/>
            <a:ext cx="5669280" cy="1737360"/>
          </a:xfrm>
          <a:prstGeom prst="rect">
            <a:avLst/>
          </a:prstGeom>
          <a:solidFill>
            <a:srgbClr val="FFF5D6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818888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C1C2E"/>
                </a:solidFill>
              </a:rPr>
              <a:t>Why Dropout? With only 302 samples, the model easily memorises the training set. Randomly zeroing 30% of neurons each step forces the network to learn redundant representations — acting as an ensemble of many sub-networks.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5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</a:rPr>
              <a:t>Training &amp;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82935" y="64556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</a:rPr>
              <a:t>6/12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6492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Training History</a:t>
            </a:r>
          </a:p>
        </p:txBody>
      </p:sp>
      <p:pic>
        <p:nvPicPr>
          <p:cNvPr id="7" name="Picture 6" descr="training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9344"/>
            <a:ext cx="6492240" cy="2164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1188720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4592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Stopped at epoch ~33 via early stopping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val_loss plateaued after epoch ~14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No significant overfitting observed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Best weights from epoch ~14 restored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</a:rPr>
              <a:t>    – Small train/val accuracy gap expected at n=302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4617720"/>
            <a:ext cx="4572000" cy="1828800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4736592"/>
            <a:ext cx="429768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C1C2E"/>
                </a:solidFill>
              </a:rPr>
              <a:t>Early stopping is essential here — without it, 200 epochs on 241 samples would cause severe overfitting. The model converged in ~33 epochs, saving compute and preserving generalisation.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5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</a:rPr>
              <a:t>Model Evaluation —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82935" y="64556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</a:rPr>
              <a:t>7/12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0595" y="1417320"/>
            <a:ext cx="2075688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595" y="1508760"/>
            <a:ext cx="20756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595" y="1965960"/>
            <a:ext cx="207568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6DA4"/>
                </a:solidFill>
              </a:rPr>
              <a:t>80.33%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459" y="2761488"/>
            <a:ext cx="19659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Overall correct predictions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54299" y="1417320"/>
            <a:ext cx="2075688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4299" y="1508760"/>
            <a:ext cx="20756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</a:rP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4299" y="1965960"/>
            <a:ext cx="207568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6DA4"/>
                </a:solidFill>
              </a:rPr>
              <a:t>76.92%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9163" y="2761488"/>
            <a:ext cx="19659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Of predicted Risk: truly Risk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8003" y="1417320"/>
            <a:ext cx="2075688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8003" y="1508760"/>
            <a:ext cx="20756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</a:rP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8003" y="1965960"/>
            <a:ext cx="207568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E7A3E"/>
                </a:solidFill>
              </a:rPr>
              <a:t>90.91%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2867" y="2761488"/>
            <a:ext cx="19659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Of true Risk cases: caught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1707" y="1417320"/>
            <a:ext cx="2075688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1707" y="1508760"/>
            <a:ext cx="20756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</a:rPr>
              <a:t>F1-Score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1707" y="1965960"/>
            <a:ext cx="207568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E7A3E"/>
                </a:solidFill>
              </a:rPr>
              <a:t>83.33%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6571" y="2761488"/>
            <a:ext cx="19659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Harmonic mean of Prec &amp; Recall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65411" y="1417320"/>
            <a:ext cx="2075688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5411" y="1508760"/>
            <a:ext cx="20756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</a:rPr>
              <a:t>ROC-AUC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5411" y="1965960"/>
            <a:ext cx="207568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E7A3E"/>
                </a:solidFill>
              </a:rPr>
              <a:t>86.90%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0275" y="2761488"/>
            <a:ext cx="19659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Area under the ROC curve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749040"/>
            <a:ext cx="11185855" cy="1600200"/>
          </a:xfrm>
          <a:prstGeom prst="rect">
            <a:avLst/>
          </a:prstGeom>
          <a:solidFill>
            <a:srgbClr val="E8F5EB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8862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2E"/>
                </a:solidFill>
              </a:rPr>
              <a:t>Clinical interpretation: Recall (90.91%) is the most critical metric in cardiac screening. A false negative — missing a real cardiac risk patient — is far more dangerous than a false alarm. The model correctly catches 30 of 33 true risk cases in the test set (only 3 missed).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486400"/>
            <a:ext cx="1118585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</a:rPr>
              <a:t>Confusion Matrix Detail:   TP = 30   ·   TN = 19   ·   FP = 9   ·   FN =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5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</a:rPr>
              <a:t>Model Evaluation — Confusion Matrix &amp; ROC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82935" y="64556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</a:rPr>
              <a:t>8/12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303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Confusion Matrix</a:t>
            </a:r>
          </a:p>
        </p:txBody>
      </p:sp>
      <p:pic>
        <p:nvPicPr>
          <p:cNvPr id="7" name="Picture 6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502920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1188720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ROC Curve  (AUC = 0.8690)</a:t>
            </a:r>
          </a:p>
        </p:txBody>
      </p:sp>
      <p:pic>
        <p:nvPicPr>
          <p:cNvPr id="9" name="Picture 8" descr="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0020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5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</a:rPr>
              <a:t>Explainable AI — What is SHAP?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82935" y="64556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</a:rPr>
              <a:t>9/12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SHAP  —  SHapley Additive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11185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Rooted in cooperative game theory (Shapley, 1953)  ·  Adapted for ML by Lundberg &amp; Lee (NeurIPS 2017)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11185855" cy="932688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21992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A4"/>
                </a:solidFill>
              </a:rPr>
              <a:t>Local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For any prediction, the SHAP values sum exactly to the model output minus a baseline. Explanation and model always agree.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154680"/>
            <a:ext cx="11185855" cy="932688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27832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A4"/>
                </a:solidFill>
              </a:rPr>
              <a:t>Missingness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1153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Features that are absent from the input have zero SHAP contribution — no phantom effects.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60520"/>
            <a:ext cx="11185855" cy="932688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33672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A4"/>
                </a:solidFill>
              </a:rPr>
              <a:t>Consistency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17720"/>
            <a:ext cx="1091153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</a:rPr>
              <a:t>If a feature's contribution increases across all coalition subsets, its SHAP value can only increase — a monotonicity guarantee.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03520"/>
            <a:ext cx="1118585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</a:rPr>
              <a:t>Why KernelExplainer?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76072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Model-agnostic — works with any black-box, including TensorFlow/Keras MLP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Samples feature perturbations to estimate Shapley values without model-specific access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Setup: 100 background samples  ·  50 test samples  ·  nsamples=100 per explanation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5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</a:rPr>
              <a:t>SHAP — Global Feature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82935" y="64556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</a:rPr>
              <a:t>10/12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669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Mean |SHAP| — Feature Importance Bar</a:t>
            </a:r>
          </a:p>
        </p:txBody>
      </p:sp>
      <p:pic>
        <p:nvPicPr>
          <p:cNvPr id="7" name="Picture 6" descr="shap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9344"/>
            <a:ext cx="5577840" cy="8839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1188720"/>
            <a:ext cx="5486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Beeswarm — Direction &amp; Magnitude</a:t>
            </a:r>
          </a:p>
        </p:txBody>
      </p:sp>
      <p:pic>
        <p:nvPicPr>
          <p:cNvPr id="9" name="Picture 8" descr="shap_summary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09344"/>
            <a:ext cx="5394960" cy="80141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382512"/>
            <a:ext cx="11185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</a:rPr>
              <a:t>Top global drivers: Thalassemia  ·  ChestPainType  ·  MaxHR  ·  Oldpeak  ·  MajorVessels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5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</a:rPr>
              <a:t>SHAP — Local Explanation (Patient-Level)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82935" y="64556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</a:rPr>
              <a:t>11/12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60350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Waterfall Plot — Patient 1</a:t>
            </a:r>
          </a:p>
        </p:txBody>
      </p:sp>
      <p:pic>
        <p:nvPicPr>
          <p:cNvPr id="7" name="Picture 6" descr="shap_local_expla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9344"/>
            <a:ext cx="5943600" cy="47132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6560" y="1188720"/>
            <a:ext cx="5074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</a:rPr>
              <a:t>Reading the Waterfall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64592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Patient 1: Actual = No Risk · Predicted = No Risk  (P = 0.094)  ✓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MaxHR drives prediction strongly toward No Risk (large negative SHAP)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Thalassemia also reduces predicted risk for this patient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ChestPainType adds minor push toward risk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55555"/>
                </a:solidFill>
              </a:rPr>
              <a:t>    – Each bar moves the output from the baseline expected value (~0.54)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4800600"/>
            <a:ext cx="5074920" cy="1600200"/>
          </a:xfrm>
          <a:prstGeom prst="rect">
            <a:avLst/>
          </a:prstGeom>
          <a:solidFill>
            <a:srgbClr val="F2F2F2"/>
          </a:solidFill>
          <a:ln w="9525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4919472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C1C2E"/>
                </a:solidFill>
              </a:rPr>
              <a:t>Unlike global rankings, SHAP local explanations let a clinician see exactly why the model flagged a specific patient — enabling audit, override, and trust-building in practice.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5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</a:rPr>
              <a:t>Key Findings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82935" y="64556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</a:rPr>
              <a:t>12/12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</a:rPr>
              <a:t>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C1C2E"/>
                </a:solidFill>
              </a:rPr>
              <a:t>● MLP achieves 80.33% accuracy and 90.91% recall on 302 samples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High recall minimises false negatives — the most critical error in cardiac screening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Thalassemia and ChestPainType are the strongest global predictors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MaxHR is protective — higher max heart rate lowers predicted risk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Local SHAP explanations make individual predictions auditable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18872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E3A2A"/>
                </a:solidFill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5212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Small dataset (302 samples) limits generalisation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Cleveland subset only — may not reflect diverse populations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KernelExplainer is slow for large test sets (sampling-based)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Binary target collapses 5 original severity levels into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74904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7A3E"/>
                </a:solidFill>
              </a:rP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20624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Larger, multi-centre datasets for better generalisation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TreeSHAP or GradientSHAP for faster local explanations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Extend to multi-class severity prediction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C1C2E"/>
                </a:solidFill>
              </a:rPr>
              <a:t>● Real-time clinical decision-support integration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5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[1]  Detrano, R., et al. (1989). International application of a new probability algorithm for the diagnosis of coronary artery disease. American Journal of Cardiology, 64(5), 304–310.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3794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[2]  Dua, D. &amp; Graff, C. (2019). UCI Machine Learning Repository. University of California, Irvine.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41448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[3]  mragpavank. (2020). Heart Disease UCI. Kaggle. kaggle.com/code/mragpavank/heart-disease-uci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4495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[4]  Lundberg, S. M. &amp; Lee, S.-I. (2017). A unified approach to interpreting model predictions. Advances in Neural Information Processing Systems (NeurIPS), 30.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48456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[5]  Shapley, L. S. (1953). A value for n-person games. Contributions to the Theory of Games, 2, 307–317.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51960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[6]  Abadi, M., et al. (2015). TensorFlow: Large-scale machine learning on heterogeneous distributed systems. arXiv:1603.04467.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55464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[7]  Chollet, F., et al. (2015). Keras. GitHub: github.com/keras-team/keras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458968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</a:rPr>
              <a:t>[8]  World Health Organization. (2023). Cardiovascular diseases fact sheet. WHO.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10972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82296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1">
                <a:solidFill>
                  <a:srgbClr val="D5E5F5"/>
                </a:solidFill>
              </a:rPr>
              <a:t>Any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5E5F5"/>
                </a:solidFill>
              </a:rPr>
              <a:t>CSE710: Advanced 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1605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5E5F5"/>
                </a:solidFill>
              </a:rPr>
              <a:t>[Person 1 Name]   ·   [Person 2 Name]   ·   [Person 3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983480"/>
            <a:ext cx="121916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Dataset: UCI Heart Disease (Cleveland)  ·  Model: MLP  ·  XAI: SHAP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